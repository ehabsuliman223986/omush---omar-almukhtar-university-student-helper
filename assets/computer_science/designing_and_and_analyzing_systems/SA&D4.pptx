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2" r:id="rId1"/>
  </p:sldMasterIdLst>
  <p:sldIdLst>
    <p:sldId id="256" r:id="rId2"/>
    <p:sldId id="274" r:id="rId3"/>
    <p:sldId id="275" r:id="rId4"/>
    <p:sldId id="276" r:id="rId5"/>
    <p:sldId id="277" r:id="rId6"/>
    <p:sldId id="278" r:id="rId7"/>
    <p:sldId id="279" r:id="rId8"/>
    <p:sldId id="284"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80" r:id="rId22"/>
    <p:sldId id="269" r:id="rId23"/>
    <p:sldId id="270" r:id="rId24"/>
    <p:sldId id="271" r:id="rId25"/>
    <p:sldId id="281" r:id="rId26"/>
    <p:sldId id="282" r:id="rId27"/>
    <p:sldId id="272" r:id="rId28"/>
    <p:sldId id="283" r:id="rId29"/>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412" autoAdjust="0"/>
    <p:restoredTop sz="94662" autoAdjust="0"/>
  </p:normalViewPr>
  <p:slideViewPr>
    <p:cSldViewPr>
      <p:cViewPr>
        <p:scale>
          <a:sx n="76" d="100"/>
          <a:sy n="76" d="100"/>
        </p:scale>
        <p:origin x="-120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ar-SA" smtClean="0"/>
              <a:t>انقر لتحرير نمط العنوان الرئيسي</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smtClean="0"/>
              <a:t>انقر لتحرير نمط العنوان الثانوي الرئيسي</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1B8ABB09-4A1D-463E-8065-109CC2B7EFAA}" type="datetimeFigureOut">
              <a:rPr lang="ar-SA" smtClean="0"/>
              <a:t>21/05/1447</a:t>
            </a:fld>
            <a:endParaRPr lang="ar-SA"/>
          </a:p>
        </p:txBody>
      </p:sp>
      <p:sp>
        <p:nvSpPr>
          <p:cNvPr id="5" name="Footer Placeholder 4"/>
          <p:cNvSpPr>
            <a:spLocks noGrp="1"/>
          </p:cNvSpPr>
          <p:nvPr>
            <p:ph type="ftr" sz="quarter" idx="11"/>
          </p:nvPr>
        </p:nvSpPr>
        <p:spPr>
          <a:xfrm>
            <a:off x="1174044" y="5357592"/>
            <a:ext cx="5034845" cy="365125"/>
          </a:xfrm>
        </p:spPr>
        <p:txBody>
          <a:bodyPr/>
          <a:lstStyle/>
          <a:p>
            <a:endParaRPr lang="ar-SA"/>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0B34F065-1154-456A-91E3-76DE8E75E17B}" type="slidenum">
              <a:rPr lang="ar-SA" smtClean="0"/>
              <a:t>‹#›</a:t>
            </a:fld>
            <a:endParaRPr lang="ar-S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a:p>
        </p:txBody>
      </p:sp>
      <p:sp>
        <p:nvSpPr>
          <p:cNvPr id="3" name="Content Placeholder 2"/>
          <p:cNvSpPr>
            <a:spLocks noGrp="1"/>
          </p:cNvSpPr>
          <p:nvPr>
            <p:ph idx="1"/>
          </p:nvPr>
        </p:nvSpPr>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Date Placeholder 3"/>
          <p:cNvSpPr>
            <a:spLocks noGrp="1"/>
          </p:cNvSpPr>
          <p:nvPr>
            <p:ph type="dt" sz="half" idx="10"/>
          </p:nvPr>
        </p:nvSpPr>
        <p:spPr/>
        <p:txBody>
          <a:bodyPr/>
          <a:lstStyle/>
          <a:p>
            <a:fld id="{1B8ABB09-4A1D-463E-8065-109CC2B7EFAA}" type="datetimeFigureOut">
              <a:rPr lang="ar-SA" smtClean="0"/>
              <a:t>21/05/1447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ar-SA" smtClean="0"/>
              <a:t>انقر لتحرير نمط العنوان الرئيسي</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smtClean="0"/>
              <a:t>انقر لتحرير أنماط النص الرئيسي</a:t>
            </a:r>
          </a:p>
        </p:txBody>
      </p:sp>
      <p:sp>
        <p:nvSpPr>
          <p:cNvPr id="4" name="Date Placeholder 3"/>
          <p:cNvSpPr>
            <a:spLocks noGrp="1"/>
          </p:cNvSpPr>
          <p:nvPr>
            <p:ph type="dt" sz="half" idx="10"/>
          </p:nvPr>
        </p:nvSpPr>
        <p:spPr/>
        <p:txBody>
          <a:bodyPr/>
          <a:lstStyle/>
          <a:p>
            <a:fld id="{1B8ABB09-4A1D-463E-8065-109CC2B7EFAA}" type="datetimeFigureOut">
              <a:rPr lang="ar-SA" smtClean="0"/>
              <a:t>21/05/1447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a:p>
        </p:txBody>
      </p:sp>
      <p:sp>
        <p:nvSpPr>
          <p:cNvPr id="5" name="Date Placeholder 4"/>
          <p:cNvSpPr>
            <a:spLocks noGrp="1"/>
          </p:cNvSpPr>
          <p:nvPr>
            <p:ph type="dt" sz="half" idx="10"/>
          </p:nvPr>
        </p:nvSpPr>
        <p:spPr/>
        <p:txBody>
          <a:bodyPr/>
          <a:lstStyle/>
          <a:p>
            <a:fld id="{1B8ABB09-4A1D-463E-8065-109CC2B7EFAA}" type="datetimeFigureOut">
              <a:rPr lang="ar-SA" smtClean="0"/>
              <a:t>21/05/1447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B34F065-1154-456A-91E3-76DE8E75E17B}" type="slidenum">
              <a:rPr lang="ar-SA" smtClean="0"/>
              <a:t>‹#›</a:t>
            </a:fld>
            <a:endParaRPr lang="ar-SA"/>
          </a:p>
        </p:txBody>
      </p:sp>
      <p:sp>
        <p:nvSpPr>
          <p:cNvPr id="9" name="Content Placeholder 8"/>
          <p:cNvSpPr>
            <a:spLocks noGrp="1"/>
          </p:cNvSpPr>
          <p:nvPr>
            <p:ph sz="quarter" idx="13"/>
          </p:nvPr>
        </p:nvSpPr>
        <p:spPr>
          <a:xfrm>
            <a:off x="1298448" y="2121407"/>
            <a:ext cx="3200400" cy="3602736"/>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ar-SA" smtClean="0"/>
              <a:t>انقر لتحرير نمط العنوان الرئيسي</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انقر لتحرير أنماط النص الرئيسي</a:t>
            </a:r>
          </a:p>
        </p:txBody>
      </p:sp>
      <p:sp>
        <p:nvSpPr>
          <p:cNvPr id="7" name="Date Placeholder 6"/>
          <p:cNvSpPr>
            <a:spLocks noGrp="1"/>
          </p:cNvSpPr>
          <p:nvPr>
            <p:ph type="dt" sz="half" idx="10"/>
          </p:nvPr>
        </p:nvSpPr>
        <p:spPr/>
        <p:txBody>
          <a:bodyPr/>
          <a:lstStyle/>
          <a:p>
            <a:fld id="{1B8ABB09-4A1D-463E-8065-109CC2B7EFAA}" type="datetimeFigureOut">
              <a:rPr lang="ar-SA" smtClean="0"/>
              <a:t>21/05/1447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0B34F065-1154-456A-91E3-76DE8E75E17B}" type="slidenum">
              <a:rPr lang="ar-SA" smtClean="0"/>
              <a:t>‹#›</a:t>
            </a:fld>
            <a:endParaRPr lang="ar-SA"/>
          </a:p>
        </p:txBody>
      </p:sp>
      <p:sp>
        <p:nvSpPr>
          <p:cNvPr id="11" name="Content Placeholder 10"/>
          <p:cNvSpPr>
            <a:spLocks noGrp="1"/>
          </p:cNvSpPr>
          <p:nvPr>
            <p:ph sz="quarter" idx="13"/>
          </p:nvPr>
        </p:nvSpPr>
        <p:spPr>
          <a:xfrm>
            <a:off x="1298448" y="2944368"/>
            <a:ext cx="3227832" cy="2779776"/>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a:p>
        </p:txBody>
      </p:sp>
      <p:sp>
        <p:nvSpPr>
          <p:cNvPr id="3" name="Date Placeholder 2"/>
          <p:cNvSpPr>
            <a:spLocks noGrp="1"/>
          </p:cNvSpPr>
          <p:nvPr>
            <p:ph type="dt" sz="half" idx="10"/>
          </p:nvPr>
        </p:nvSpPr>
        <p:spPr/>
        <p:txBody>
          <a:bodyPr/>
          <a:lstStyle/>
          <a:p>
            <a:fld id="{1B8ABB09-4A1D-463E-8065-109CC2B7EFAA}" type="datetimeFigureOut">
              <a:rPr lang="ar-SA" smtClean="0"/>
              <a:t>21/05/1447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8ABB09-4A1D-463E-8065-109CC2B7EFAA}" type="datetimeFigureOut">
              <a:rPr lang="ar-SA" smtClean="0"/>
              <a:t>21/05/1447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محتوى ذو تسمية توضيحية">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ar-SA" smtClean="0"/>
              <a:t>انقر لتحرير نمط العنوان الرئيسي</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Date Placeholder 4"/>
          <p:cNvSpPr>
            <a:spLocks noGrp="1"/>
          </p:cNvSpPr>
          <p:nvPr>
            <p:ph type="dt" sz="half" idx="10"/>
          </p:nvPr>
        </p:nvSpPr>
        <p:spPr>
          <a:xfrm rot="60000">
            <a:off x="6341698" y="5885672"/>
            <a:ext cx="1213821" cy="365125"/>
          </a:xfrm>
        </p:spPr>
        <p:txBody>
          <a:bodyPr/>
          <a:lstStyle/>
          <a:p>
            <a:fld id="{1B8ABB09-4A1D-463E-8065-109CC2B7EFAA}" type="datetimeFigureOut">
              <a:rPr lang="ar-SA" smtClean="0"/>
              <a:t>21/05/1447</a:t>
            </a:fld>
            <a:endParaRPr lang="ar-SA"/>
          </a:p>
        </p:txBody>
      </p:sp>
      <p:sp>
        <p:nvSpPr>
          <p:cNvPr id="6" name="Footer Placeholder 5"/>
          <p:cNvSpPr>
            <a:spLocks noGrp="1"/>
          </p:cNvSpPr>
          <p:nvPr>
            <p:ph type="ftr" sz="quarter" idx="11"/>
          </p:nvPr>
        </p:nvSpPr>
        <p:spPr>
          <a:xfrm rot="-60000">
            <a:off x="914554" y="5829261"/>
            <a:ext cx="3522607" cy="365125"/>
          </a:xfrm>
        </p:spPr>
        <p:txBody>
          <a:bodyPr/>
          <a:lstStyle/>
          <a:p>
            <a:endParaRPr lang="ar-SA"/>
          </a:p>
        </p:txBody>
      </p:sp>
      <p:sp>
        <p:nvSpPr>
          <p:cNvPr id="7" name="Slide Number Placeholder 6"/>
          <p:cNvSpPr>
            <a:spLocks noGrp="1"/>
          </p:cNvSpPr>
          <p:nvPr>
            <p:ph type="sldNum" sz="quarter" idx="12"/>
          </p:nvPr>
        </p:nvSpPr>
        <p:spPr>
          <a:xfrm rot="60000">
            <a:off x="7557313" y="5896961"/>
            <a:ext cx="554023" cy="365125"/>
          </a:xfrm>
        </p:spPr>
        <p:txBody>
          <a:bodyPr/>
          <a:lstStyle/>
          <a:p>
            <a:fld id="{0B34F065-1154-456A-91E3-76DE8E75E17B}" type="slidenum">
              <a:rPr lang="ar-SA" smtClean="0"/>
              <a:t>‹#›</a:t>
            </a:fld>
            <a:endParaRPr lang="ar-S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صورة ذو تسمية توضيحية">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ar-SA" smtClean="0"/>
              <a:t>انقر لتحرير نمط العنوان الرئيسي</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smtClean="0"/>
              <a:t>انقر فوق الأيقونة لإضافة صورة</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smtClean="0"/>
              <a:t>انقر لتحرير أنماط النص الرئيسي</a:t>
            </a:r>
          </a:p>
        </p:txBody>
      </p:sp>
      <p:sp>
        <p:nvSpPr>
          <p:cNvPr id="5" name="Date Placeholder 4"/>
          <p:cNvSpPr>
            <a:spLocks noGrp="1"/>
          </p:cNvSpPr>
          <p:nvPr>
            <p:ph type="dt" sz="half" idx="10"/>
          </p:nvPr>
        </p:nvSpPr>
        <p:spPr>
          <a:xfrm rot="60000">
            <a:off x="6345936" y="5888737"/>
            <a:ext cx="1213821" cy="365125"/>
          </a:xfrm>
        </p:spPr>
        <p:txBody>
          <a:bodyPr/>
          <a:lstStyle/>
          <a:p>
            <a:fld id="{1B8ABB09-4A1D-463E-8065-109CC2B7EFAA}" type="datetimeFigureOut">
              <a:rPr lang="ar-SA" smtClean="0"/>
              <a:t>21/05/1447</a:t>
            </a:fld>
            <a:endParaRPr lang="ar-SA"/>
          </a:p>
        </p:txBody>
      </p:sp>
      <p:sp>
        <p:nvSpPr>
          <p:cNvPr id="6" name="Footer Placeholder 5"/>
          <p:cNvSpPr>
            <a:spLocks noGrp="1"/>
          </p:cNvSpPr>
          <p:nvPr>
            <p:ph type="ftr" sz="quarter" idx="11"/>
          </p:nvPr>
        </p:nvSpPr>
        <p:spPr>
          <a:xfrm rot="-60000">
            <a:off x="914569" y="5831037"/>
            <a:ext cx="3319043" cy="365125"/>
          </a:xfrm>
        </p:spPr>
        <p:txBody>
          <a:bodyPr/>
          <a:lstStyle/>
          <a:p>
            <a:endParaRPr lang="ar-SA"/>
          </a:p>
        </p:txBody>
      </p:sp>
      <p:sp>
        <p:nvSpPr>
          <p:cNvPr id="7" name="Slide Number Placeholder 6"/>
          <p:cNvSpPr>
            <a:spLocks noGrp="1"/>
          </p:cNvSpPr>
          <p:nvPr>
            <p:ph type="sldNum" sz="quarter" idx="12"/>
          </p:nvPr>
        </p:nvSpPr>
        <p:spPr>
          <a:xfrm rot="60000">
            <a:off x="7562089" y="5900026"/>
            <a:ext cx="554023" cy="365125"/>
          </a:xfrm>
        </p:spPr>
        <p:txBody>
          <a:bodyPr/>
          <a:lstStyle/>
          <a:p>
            <a:fld id="{0B34F065-1154-456A-91E3-76DE8E75E17B}" type="slidenum">
              <a:rPr lang="ar-SA" smtClean="0"/>
              <a:t>‹#›</a:t>
            </a:fld>
            <a:endParaRPr lang="ar-S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smtClean="0"/>
              <a:t>انقر لتحرير نمط العنوان الرئيسي</a:t>
            </a:r>
            <a:endParaRPr lang="en-US"/>
          </a:p>
        </p:txBody>
      </p:sp>
      <p:sp>
        <p:nvSpPr>
          <p:cNvPr id="3" name="Vertical Text Placeholder 2"/>
          <p:cNvSpPr>
            <a:spLocks noGrp="1"/>
          </p:cNvSpPr>
          <p:nvPr>
            <p:ph type="body" orient="vert" idx="1"/>
          </p:nvPr>
        </p:nvSpPr>
        <p:spPr/>
        <p:txBody>
          <a:bodyPr vert="eaVert" anchor="ct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Date Placeholder 3"/>
          <p:cNvSpPr>
            <a:spLocks noGrp="1"/>
          </p:cNvSpPr>
          <p:nvPr>
            <p:ph type="dt" sz="half" idx="10"/>
          </p:nvPr>
        </p:nvSpPr>
        <p:spPr/>
        <p:txBody>
          <a:bodyPr/>
          <a:lstStyle/>
          <a:p>
            <a:fld id="{1B8ABB09-4A1D-463E-8065-109CC2B7EFAA}" type="datetimeFigureOut">
              <a:rPr lang="ar-SA" smtClean="0"/>
              <a:t>21/05/1447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ar-SA" smtClean="0"/>
              <a:t>انقر لتحرير نمط العنوان الرئيسي</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Date Placeholder 3"/>
          <p:cNvSpPr>
            <a:spLocks noGrp="1"/>
          </p:cNvSpPr>
          <p:nvPr>
            <p:ph type="dt" sz="half" idx="10"/>
          </p:nvPr>
        </p:nvSpPr>
        <p:spPr/>
        <p:txBody>
          <a:bodyPr/>
          <a:lstStyle/>
          <a:p>
            <a:fld id="{1B8ABB09-4A1D-463E-8065-109CC2B7EFAA}" type="datetimeFigureOut">
              <a:rPr lang="ar-SA" smtClean="0"/>
              <a:t>21/05/1447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ar-SA" smtClean="0"/>
              <a:t>انقر لتحرير نمط العنوان الرئيسي</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1B8ABB09-4A1D-463E-8065-109CC2B7EFAA}" type="datetimeFigureOut">
              <a:rPr lang="ar-SA" smtClean="0"/>
              <a:t>21/05/1447</a:t>
            </a:fld>
            <a:endParaRPr lang="ar-SA"/>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ar-SA"/>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0B34F065-1154-456A-91E3-76DE8E75E17B}" type="slidenum">
              <a:rPr lang="ar-SA" smtClean="0"/>
              <a:t>‹#›</a:t>
            </a:fld>
            <a:endParaRPr lang="ar-SA"/>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umia.albera@omu.edu.ly"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b="1" dirty="0" smtClean="0"/>
              <a:t>System Analysis And Design</a:t>
            </a:r>
            <a:endParaRPr lang="en-GB" b="1" dirty="0"/>
          </a:p>
        </p:txBody>
      </p:sp>
      <p:sp>
        <p:nvSpPr>
          <p:cNvPr id="3" name="عنصر نائب للنص 2"/>
          <p:cNvSpPr>
            <a:spLocks noGrp="1"/>
          </p:cNvSpPr>
          <p:nvPr>
            <p:ph type="body" idx="1"/>
          </p:nvPr>
        </p:nvSpPr>
        <p:spPr/>
        <p:txBody>
          <a:bodyPr/>
          <a:lstStyle/>
          <a:p>
            <a:pPr algn="l"/>
            <a:endParaRPr lang="en-GB" b="1" dirty="0" smtClean="0"/>
          </a:p>
          <a:p>
            <a:pPr algn="l"/>
            <a:r>
              <a:rPr lang="en-GB" b="1" dirty="0" smtClean="0"/>
              <a:t>Mrs </a:t>
            </a:r>
            <a:r>
              <a:rPr lang="en-GB" b="1" dirty="0" err="1"/>
              <a:t>Sumaya</a:t>
            </a:r>
            <a:r>
              <a:rPr lang="en-GB" b="1" dirty="0"/>
              <a:t> </a:t>
            </a:r>
            <a:r>
              <a:rPr lang="en-GB" b="1" dirty="0" err="1"/>
              <a:t>Albera</a:t>
            </a:r>
            <a:r>
              <a:rPr lang="en-GB" b="1" dirty="0"/>
              <a:t/>
            </a:r>
            <a:br>
              <a:rPr lang="en-GB" b="1" dirty="0"/>
            </a:br>
            <a:r>
              <a:rPr lang="en-GB" dirty="0" smtClean="0">
                <a:hlinkClick r:id="rId2"/>
              </a:rPr>
              <a:t>Sumia.albera@omu.edu.ly</a:t>
            </a:r>
            <a:endParaRPr lang="en-US" dirty="0"/>
          </a:p>
        </p:txBody>
      </p:sp>
    </p:spTree>
    <p:extLst>
      <p:ext uri="{BB962C8B-B14F-4D97-AF65-F5344CB8AC3E}">
        <p14:creationId xmlns:p14="http://schemas.microsoft.com/office/powerpoint/2010/main" val="1461371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r>
              <a:rPr lang="en-US" sz="3600" b="1" dirty="0" smtClean="0"/>
              <a:t>Requirement Determination</a:t>
            </a:r>
            <a:r>
              <a:rPr lang="en-US" sz="3600" dirty="0" smtClean="0"/>
              <a:t>:</a:t>
            </a:r>
            <a:endParaRPr lang="en-US" sz="3600" dirty="0"/>
          </a:p>
        </p:txBody>
      </p:sp>
      <p:sp>
        <p:nvSpPr>
          <p:cNvPr id="3" name="عنصر نائب للمحتوى 2"/>
          <p:cNvSpPr>
            <a:spLocks noGrp="1"/>
          </p:cNvSpPr>
          <p:nvPr>
            <p:ph idx="1"/>
          </p:nvPr>
        </p:nvSpPr>
        <p:spPr/>
        <p:txBody>
          <a:bodyPr>
            <a:normAutofit fontScale="92500"/>
          </a:bodyPr>
          <a:lstStyle/>
          <a:p>
            <a:pPr algn="just"/>
            <a:r>
              <a:rPr lang="en-US" b="1" i="1" dirty="0"/>
              <a:t>Defining a </a:t>
            </a:r>
            <a:r>
              <a:rPr lang="en-US" b="1" i="1" dirty="0" smtClean="0"/>
              <a:t>Requirement : </a:t>
            </a:r>
            <a:r>
              <a:rPr lang="en-US" dirty="0" smtClean="0"/>
              <a:t>A </a:t>
            </a:r>
            <a:r>
              <a:rPr lang="en-US" dirty="0"/>
              <a:t>requirement is simply a statement of what the system must do or what characteristic it must have</a:t>
            </a:r>
            <a:r>
              <a:rPr lang="en-US" dirty="0" smtClean="0"/>
              <a:t>.</a:t>
            </a:r>
          </a:p>
          <a:p>
            <a:pPr algn="just"/>
            <a:r>
              <a:rPr lang="en-US" dirty="0"/>
              <a:t>During analysis, requirements are written from the perspective of the </a:t>
            </a:r>
            <a:r>
              <a:rPr lang="en-US" dirty="0" smtClean="0"/>
              <a:t>business person</a:t>
            </a:r>
            <a:r>
              <a:rPr lang="en-US" dirty="0"/>
              <a:t>, and they focus on the ―</a:t>
            </a:r>
            <a:r>
              <a:rPr lang="en-US" dirty="0" smtClean="0"/>
              <a:t>what </a:t>
            </a:r>
            <a:r>
              <a:rPr lang="en-US" dirty="0"/>
              <a:t>of the </a:t>
            </a:r>
            <a:r>
              <a:rPr lang="en-US" dirty="0" smtClean="0"/>
              <a:t>system do?</a:t>
            </a:r>
          </a:p>
          <a:p>
            <a:pPr algn="just"/>
            <a:r>
              <a:rPr lang="en-US" dirty="0"/>
              <a:t>Because they focus on the needs of the business user, they are usually called business requirements (and sometimes user requirements). </a:t>
            </a:r>
          </a:p>
        </p:txBody>
      </p:sp>
    </p:spTree>
    <p:extLst>
      <p:ext uri="{BB962C8B-B14F-4D97-AF65-F5344CB8AC3E}">
        <p14:creationId xmlns:p14="http://schemas.microsoft.com/office/powerpoint/2010/main" val="164181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algn="l"/>
            <a:r>
              <a:rPr lang="en-US" sz="3600" b="1" dirty="0"/>
              <a:t>Requirement Determination</a:t>
            </a:r>
            <a:r>
              <a:rPr lang="en-US" sz="3600" dirty="0"/>
              <a:t>:</a:t>
            </a:r>
          </a:p>
        </p:txBody>
      </p:sp>
      <p:sp>
        <p:nvSpPr>
          <p:cNvPr id="3" name="عنصر نائب للمحتوى 2"/>
          <p:cNvSpPr>
            <a:spLocks noGrp="1"/>
          </p:cNvSpPr>
          <p:nvPr>
            <p:ph idx="1"/>
          </p:nvPr>
        </p:nvSpPr>
        <p:spPr/>
        <p:txBody>
          <a:bodyPr/>
          <a:lstStyle/>
          <a:p>
            <a:r>
              <a:rPr lang="en-US" dirty="0"/>
              <a:t>I</a:t>
            </a:r>
            <a:r>
              <a:rPr lang="en-US" dirty="0" smtClean="0"/>
              <a:t>n </a:t>
            </a:r>
            <a:r>
              <a:rPr lang="en-US" dirty="0"/>
              <a:t>design, business requirements evolve to become more technical, and they describe how the system will be implemented</a:t>
            </a:r>
            <a:r>
              <a:rPr lang="en-US" dirty="0" smtClean="0"/>
              <a:t>.</a:t>
            </a:r>
          </a:p>
          <a:p>
            <a:r>
              <a:rPr lang="en-US" dirty="0"/>
              <a:t>Requirements in design are written from the developer’s perspective, and they are usually called system requirements. </a:t>
            </a:r>
          </a:p>
        </p:txBody>
      </p:sp>
    </p:spTree>
    <p:extLst>
      <p:ext uri="{BB962C8B-B14F-4D97-AF65-F5344CB8AC3E}">
        <p14:creationId xmlns:p14="http://schemas.microsoft.com/office/powerpoint/2010/main" val="47008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US" dirty="0"/>
              <a:t>Creating a Requirements </a:t>
            </a:r>
            <a:r>
              <a:rPr lang="en-US" dirty="0" smtClean="0"/>
              <a:t>Definition:</a:t>
            </a:r>
            <a:endParaRPr lang="en-US" dirty="0"/>
          </a:p>
        </p:txBody>
      </p:sp>
      <p:sp>
        <p:nvSpPr>
          <p:cNvPr id="3" name="عنصر نائب للمحتوى 2"/>
          <p:cNvSpPr>
            <a:spLocks noGrp="1"/>
          </p:cNvSpPr>
          <p:nvPr>
            <p:ph idx="1"/>
          </p:nvPr>
        </p:nvSpPr>
        <p:spPr/>
        <p:txBody>
          <a:bodyPr/>
          <a:lstStyle/>
          <a:p>
            <a:pPr algn="just"/>
            <a:r>
              <a:rPr lang="en-US" dirty="0" smtClean="0"/>
              <a:t>The </a:t>
            </a:r>
            <a:r>
              <a:rPr lang="en-US" b="1" i="1" dirty="0"/>
              <a:t>requirements </a:t>
            </a:r>
            <a:r>
              <a:rPr lang="en-US" b="1" i="1" dirty="0" smtClean="0"/>
              <a:t>definition </a:t>
            </a:r>
            <a:r>
              <a:rPr lang="en-US" sz="2200" dirty="0" smtClean="0"/>
              <a:t>is a </a:t>
            </a:r>
            <a:r>
              <a:rPr lang="en-US" sz="2200" dirty="0"/>
              <a:t>document that lists the new system’s capabilities</a:t>
            </a:r>
            <a:r>
              <a:rPr lang="en-US" dirty="0"/>
              <a:t>. </a:t>
            </a:r>
            <a:endParaRPr lang="en-US" dirty="0" smtClean="0"/>
          </a:p>
          <a:p>
            <a:pPr marL="0" indent="0" algn="just">
              <a:buNone/>
            </a:pPr>
            <a:endParaRPr lang="en-US" dirty="0" smtClean="0"/>
          </a:p>
          <a:p>
            <a:pPr algn="just"/>
            <a:r>
              <a:rPr lang="en-US" b="1" i="1" dirty="0"/>
              <a:t>Creating a Requirements </a:t>
            </a:r>
            <a:r>
              <a:rPr lang="en-US" b="1" i="1" dirty="0" smtClean="0"/>
              <a:t>Definition:</a:t>
            </a:r>
          </a:p>
          <a:p>
            <a:pPr lvl="1" algn="just"/>
            <a:r>
              <a:rPr lang="en-US" dirty="0"/>
              <a:t>is an iterative and ongoing process whereby the analyst collects information with requirements-gathering techniques</a:t>
            </a:r>
            <a:endParaRPr lang="en-US" b="1" i="1" dirty="0"/>
          </a:p>
        </p:txBody>
      </p:sp>
    </p:spTree>
    <p:extLst>
      <p:ext uri="{BB962C8B-B14F-4D97-AF65-F5344CB8AC3E}">
        <p14:creationId xmlns:p14="http://schemas.microsoft.com/office/powerpoint/2010/main" val="3237628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US" dirty="0"/>
              <a:t>Creating a Requirements Definition:</a:t>
            </a:r>
          </a:p>
        </p:txBody>
      </p:sp>
      <p:sp>
        <p:nvSpPr>
          <p:cNvPr id="3" name="عنصر نائب للمحتوى 2"/>
          <p:cNvSpPr>
            <a:spLocks noGrp="1"/>
          </p:cNvSpPr>
          <p:nvPr>
            <p:ph idx="1"/>
          </p:nvPr>
        </p:nvSpPr>
        <p:spPr/>
        <p:txBody>
          <a:bodyPr/>
          <a:lstStyle/>
          <a:p>
            <a:pPr algn="just"/>
            <a:r>
              <a:rPr lang="en-US" dirty="0" smtClean="0"/>
              <a:t>Analyzes </a:t>
            </a:r>
            <a:r>
              <a:rPr lang="en-US" dirty="0"/>
              <a:t>the information to identify appropriate business requirements for the system, and adds the requirements to the requirements definition report</a:t>
            </a:r>
            <a:r>
              <a:rPr lang="en-US" dirty="0" smtClean="0"/>
              <a:t>.</a:t>
            </a:r>
          </a:p>
          <a:p>
            <a:pPr algn="just"/>
            <a:r>
              <a:rPr lang="en-US" dirty="0"/>
              <a:t>The requirements definition is kept up to date so that the project team and business users can refer to it and get a clear understanding of the new system. </a:t>
            </a:r>
            <a:endParaRPr lang="en-US" dirty="0" smtClean="0"/>
          </a:p>
          <a:p>
            <a:pPr algn="just"/>
            <a:endParaRPr lang="en-US" dirty="0"/>
          </a:p>
        </p:txBody>
      </p:sp>
    </p:spTree>
    <p:extLst>
      <p:ext uri="{BB962C8B-B14F-4D97-AF65-F5344CB8AC3E}">
        <p14:creationId xmlns:p14="http://schemas.microsoft.com/office/powerpoint/2010/main" val="931743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US" dirty="0" smtClean="0"/>
              <a:t>To Create </a:t>
            </a:r>
            <a:r>
              <a:rPr lang="en-US" dirty="0"/>
              <a:t>a </a:t>
            </a:r>
            <a:r>
              <a:rPr lang="en-US" dirty="0" smtClean="0"/>
              <a:t>requirement Definition:</a:t>
            </a:r>
            <a:endParaRPr lang="en-US" dirty="0"/>
          </a:p>
        </p:txBody>
      </p:sp>
      <p:sp>
        <p:nvSpPr>
          <p:cNvPr id="3" name="عنصر نائب للمحتوى 2"/>
          <p:cNvSpPr>
            <a:spLocks noGrp="1"/>
          </p:cNvSpPr>
          <p:nvPr>
            <p:ph idx="1"/>
          </p:nvPr>
        </p:nvSpPr>
        <p:spPr/>
        <p:txBody>
          <a:bodyPr>
            <a:normAutofit lnSpcReduction="10000"/>
          </a:bodyPr>
          <a:lstStyle/>
          <a:p>
            <a:pPr marL="457200" indent="-457200" algn="just">
              <a:buAutoNum type="arabicPeriod"/>
            </a:pPr>
            <a:r>
              <a:rPr lang="en-US" dirty="0" smtClean="0"/>
              <a:t>The </a:t>
            </a:r>
            <a:r>
              <a:rPr lang="en-US" dirty="0"/>
              <a:t>project team first determines the kinds of functional and nonfunctional requirements that they will collect about the system.(These become the main sections of the document</a:t>
            </a:r>
            <a:r>
              <a:rPr lang="en-US" dirty="0" smtClean="0"/>
              <a:t>.)</a:t>
            </a:r>
          </a:p>
          <a:p>
            <a:pPr marL="457200" indent="-457200" algn="just">
              <a:buAutoNum type="arabicPeriod"/>
            </a:pPr>
            <a:r>
              <a:rPr lang="en-US" dirty="0" smtClean="0"/>
              <a:t>The </a:t>
            </a:r>
            <a:r>
              <a:rPr lang="en-US" dirty="0"/>
              <a:t>analysts use a variety of requirements gathering techniques (e.g., interviews, observation) to collect information, and they list the business requirements that were identified from that information.</a:t>
            </a:r>
          </a:p>
        </p:txBody>
      </p:sp>
    </p:spTree>
    <p:extLst>
      <p:ext uri="{BB962C8B-B14F-4D97-AF65-F5344CB8AC3E}">
        <p14:creationId xmlns:p14="http://schemas.microsoft.com/office/powerpoint/2010/main" val="2368706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US" dirty="0"/>
              <a:t>To Create a requirement Definition</a:t>
            </a:r>
            <a:r>
              <a:rPr lang="en-US" dirty="0" smtClean="0"/>
              <a:t>: (cont.)</a:t>
            </a:r>
            <a:endParaRPr lang="en-US" dirty="0"/>
          </a:p>
        </p:txBody>
      </p:sp>
      <p:sp>
        <p:nvSpPr>
          <p:cNvPr id="3" name="عنصر نائب للمحتوى 2"/>
          <p:cNvSpPr>
            <a:spLocks noGrp="1"/>
          </p:cNvSpPr>
          <p:nvPr>
            <p:ph idx="1"/>
          </p:nvPr>
        </p:nvSpPr>
        <p:spPr/>
        <p:txBody>
          <a:bodyPr/>
          <a:lstStyle/>
          <a:p>
            <a:pPr marL="0" indent="0">
              <a:buNone/>
            </a:pPr>
            <a:r>
              <a:rPr lang="en-GB" dirty="0" smtClean="0"/>
              <a:t>3. </a:t>
            </a:r>
            <a:r>
              <a:rPr lang="en-US" dirty="0" smtClean="0"/>
              <a:t>The </a:t>
            </a:r>
            <a:r>
              <a:rPr lang="en-US" dirty="0"/>
              <a:t>analysts work with the entire project team and the business users to verify, change, and complete the list and to help prioritize the importance of the requirements that were identified. </a:t>
            </a:r>
          </a:p>
        </p:txBody>
      </p:sp>
    </p:spTree>
    <p:extLst>
      <p:ext uri="{BB962C8B-B14F-4D97-AF65-F5344CB8AC3E}">
        <p14:creationId xmlns:p14="http://schemas.microsoft.com/office/powerpoint/2010/main" val="16127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Requirements Analysis</a:t>
            </a:r>
          </a:p>
        </p:txBody>
      </p:sp>
      <p:sp>
        <p:nvSpPr>
          <p:cNvPr id="3" name="عنصر نائب للمحتوى 2"/>
          <p:cNvSpPr>
            <a:spLocks noGrp="1"/>
          </p:cNvSpPr>
          <p:nvPr>
            <p:ph idx="1"/>
          </p:nvPr>
        </p:nvSpPr>
        <p:spPr/>
        <p:txBody>
          <a:bodyPr/>
          <a:lstStyle/>
          <a:p>
            <a:r>
              <a:rPr lang="en-US" dirty="0"/>
              <a:t>The basic process of analysis is divided into three </a:t>
            </a:r>
            <a:r>
              <a:rPr lang="en-US" dirty="0" smtClean="0"/>
              <a:t>steps:</a:t>
            </a:r>
          </a:p>
          <a:p>
            <a:pPr lvl="1"/>
            <a:r>
              <a:rPr lang="en-US" dirty="0"/>
              <a:t>understanding the as-is system</a:t>
            </a:r>
            <a:r>
              <a:rPr lang="en-US" dirty="0" smtClean="0"/>
              <a:t>,</a:t>
            </a:r>
          </a:p>
          <a:p>
            <a:pPr lvl="1"/>
            <a:r>
              <a:rPr lang="en-US" dirty="0" smtClean="0"/>
              <a:t> </a:t>
            </a:r>
            <a:r>
              <a:rPr lang="en-US" dirty="0"/>
              <a:t>identifying improvements, </a:t>
            </a:r>
            <a:endParaRPr lang="en-US" dirty="0" smtClean="0"/>
          </a:p>
          <a:p>
            <a:pPr lvl="1"/>
            <a:r>
              <a:rPr lang="en-US" dirty="0" smtClean="0"/>
              <a:t>developing </a:t>
            </a:r>
            <a:r>
              <a:rPr lang="en-US" dirty="0"/>
              <a:t>requirements for the to-be system</a:t>
            </a:r>
          </a:p>
        </p:txBody>
      </p:sp>
    </p:spTree>
    <p:extLst>
      <p:ext uri="{BB962C8B-B14F-4D97-AF65-F5344CB8AC3E}">
        <p14:creationId xmlns:p14="http://schemas.microsoft.com/office/powerpoint/2010/main" val="133060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sz="3600" b="1" dirty="0"/>
              <a:t>Requirements-Gathering Techniques</a:t>
            </a:r>
            <a:r>
              <a:rPr lang="en-US" sz="3600" dirty="0"/>
              <a:t> </a:t>
            </a:r>
            <a:br>
              <a:rPr lang="en-US" sz="3600" dirty="0"/>
            </a:br>
            <a:endParaRPr lang="en-US" sz="3600" dirty="0"/>
          </a:p>
        </p:txBody>
      </p:sp>
      <p:sp>
        <p:nvSpPr>
          <p:cNvPr id="3" name="عنصر نائب للمحتوى 2"/>
          <p:cNvSpPr>
            <a:spLocks noGrp="1"/>
          </p:cNvSpPr>
          <p:nvPr>
            <p:ph idx="1"/>
          </p:nvPr>
        </p:nvSpPr>
        <p:spPr/>
        <p:txBody>
          <a:bodyPr/>
          <a:lstStyle/>
          <a:p>
            <a:endParaRPr lang="en-GB" dirty="0" smtClean="0"/>
          </a:p>
          <a:p>
            <a:endParaRPr lang="en-GB" dirty="0"/>
          </a:p>
          <a:p>
            <a:r>
              <a:rPr lang="en-GB" dirty="0" smtClean="0"/>
              <a:t> </a:t>
            </a:r>
            <a:r>
              <a:rPr lang="en-US" b="1" dirty="0" smtClean="0"/>
              <a:t>Interview</a:t>
            </a:r>
          </a:p>
          <a:p>
            <a:r>
              <a:rPr lang="en-GB" dirty="0" smtClean="0"/>
              <a:t> </a:t>
            </a:r>
            <a:r>
              <a:rPr lang="en-US" b="1" dirty="0"/>
              <a:t>Joint Application Development (JAD</a:t>
            </a:r>
            <a:r>
              <a:rPr lang="en-US" b="1" dirty="0" smtClean="0"/>
              <a:t>)</a:t>
            </a:r>
          </a:p>
          <a:p>
            <a:r>
              <a:rPr lang="en-US" b="1" dirty="0" smtClean="0"/>
              <a:t>Questionnaires</a:t>
            </a:r>
          </a:p>
          <a:p>
            <a:r>
              <a:rPr lang="en-US" b="1" smtClean="0"/>
              <a:t>Document Analysis</a:t>
            </a:r>
            <a:r>
              <a:rPr lang="en-US" b="1" smtClean="0"/>
              <a:t> </a:t>
            </a:r>
            <a:endParaRPr lang="en-US" dirty="0"/>
          </a:p>
          <a:p>
            <a:r>
              <a:rPr lang="en-US" b="1" dirty="0"/>
              <a:t>Observation</a:t>
            </a:r>
            <a:endParaRPr lang="en-US" dirty="0"/>
          </a:p>
          <a:p>
            <a:endParaRPr lang="en-US" b="1" dirty="0" smtClean="0"/>
          </a:p>
          <a:p>
            <a:endParaRPr lang="en-US" b="1" dirty="0" smtClean="0"/>
          </a:p>
          <a:p>
            <a:endParaRPr lang="en-US" dirty="0"/>
          </a:p>
        </p:txBody>
      </p:sp>
    </p:spTree>
    <p:extLst>
      <p:ext uri="{BB962C8B-B14F-4D97-AF65-F5344CB8AC3E}">
        <p14:creationId xmlns:p14="http://schemas.microsoft.com/office/powerpoint/2010/main" val="166426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dirty="0" smtClean="0"/>
              <a:t>1. Interview:</a:t>
            </a:r>
            <a:endParaRPr lang="en-US" dirty="0"/>
          </a:p>
        </p:txBody>
      </p:sp>
      <p:sp>
        <p:nvSpPr>
          <p:cNvPr id="3" name="عنصر نائب للمحتوى 2"/>
          <p:cNvSpPr>
            <a:spLocks noGrp="1"/>
          </p:cNvSpPr>
          <p:nvPr>
            <p:ph idx="1"/>
          </p:nvPr>
        </p:nvSpPr>
        <p:spPr/>
        <p:txBody>
          <a:bodyPr>
            <a:normAutofit/>
          </a:bodyPr>
          <a:lstStyle/>
          <a:p>
            <a:r>
              <a:rPr lang="en-US" sz="2000" dirty="0"/>
              <a:t>An interview is the most commonly used requirements-gathering </a:t>
            </a:r>
            <a:r>
              <a:rPr lang="en-US" sz="2000" dirty="0" smtClean="0"/>
              <a:t>technique;</a:t>
            </a:r>
          </a:p>
          <a:p>
            <a:endParaRPr lang="en-GB" sz="2000" dirty="0"/>
          </a:p>
          <a:p>
            <a:r>
              <a:rPr lang="en-US" sz="2000" dirty="0"/>
              <a:t>In general, interviews are conducted one-on-one (one interviewer and one interviewee</a:t>
            </a:r>
            <a:r>
              <a:rPr lang="en-US" sz="2000" dirty="0" smtClean="0"/>
              <a:t>);</a:t>
            </a:r>
          </a:p>
          <a:p>
            <a:endParaRPr lang="en-GB" sz="2000" dirty="0"/>
          </a:p>
          <a:p>
            <a:r>
              <a:rPr lang="en-US" sz="2000" dirty="0" smtClean="0"/>
              <a:t>There </a:t>
            </a:r>
            <a:r>
              <a:rPr lang="en-US" sz="2000" dirty="0"/>
              <a:t>are 5</a:t>
            </a:r>
            <a:r>
              <a:rPr lang="en-US" sz="2000" dirty="0" smtClean="0"/>
              <a:t> </a:t>
            </a:r>
            <a:r>
              <a:rPr lang="en-US" sz="2000" dirty="0"/>
              <a:t>basic steps to the interview process: selecting interviewees, designing interview questions, preparing for the interview, conducting the interview, and post interview follow-up</a:t>
            </a:r>
            <a:r>
              <a:rPr lang="en-US" sz="2000" b="1" dirty="0"/>
              <a:t>. </a:t>
            </a:r>
          </a:p>
        </p:txBody>
      </p:sp>
    </p:spTree>
    <p:extLst>
      <p:ext uri="{BB962C8B-B14F-4D97-AF65-F5344CB8AC3E}">
        <p14:creationId xmlns:p14="http://schemas.microsoft.com/office/powerpoint/2010/main" val="12980290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sz="3600" dirty="0" smtClean="0"/>
              <a:t>1.1. </a:t>
            </a:r>
            <a:r>
              <a:rPr lang="en-US" sz="3600" b="1" dirty="0"/>
              <a:t>selecting interviewees</a:t>
            </a:r>
            <a:r>
              <a:rPr lang="en-GB" sz="3600" dirty="0" smtClean="0"/>
              <a:t> </a:t>
            </a:r>
            <a:endParaRPr lang="en-US" sz="3600" dirty="0"/>
          </a:p>
        </p:txBody>
      </p:sp>
      <p:sp>
        <p:nvSpPr>
          <p:cNvPr id="3" name="عنصر نائب للمحتوى 2"/>
          <p:cNvSpPr>
            <a:spLocks noGrp="1"/>
          </p:cNvSpPr>
          <p:nvPr>
            <p:ph idx="1"/>
          </p:nvPr>
        </p:nvSpPr>
        <p:spPr/>
        <p:txBody>
          <a:bodyPr>
            <a:normAutofit/>
          </a:bodyPr>
          <a:lstStyle/>
          <a:p>
            <a:pPr algn="just"/>
            <a:r>
              <a:rPr lang="en-US" sz="2000" dirty="0"/>
              <a:t>The analyst should prepare an interview schedule that lists who will be interviewed, when, and for what purpose. </a:t>
            </a:r>
            <a:endParaRPr lang="ar-LY" sz="2000" dirty="0" smtClean="0"/>
          </a:p>
          <a:p>
            <a:pPr marL="0" indent="0" algn="just">
              <a:buNone/>
            </a:pPr>
            <a:endParaRPr lang="ar-LY" sz="2000" dirty="0" smtClean="0"/>
          </a:p>
          <a:p>
            <a:pPr algn="just"/>
            <a:r>
              <a:rPr lang="en-US" sz="2000" dirty="0" smtClean="0"/>
              <a:t>The </a:t>
            </a:r>
            <a:r>
              <a:rPr lang="en-US" sz="2000" dirty="0"/>
              <a:t>interviewees are chosen based on the analyst’s information needs, with help from the project sponsor, key business users, and other team members to identify those who can best provide essential requirements information.</a:t>
            </a:r>
            <a:r>
              <a:rPr lang="en-US" sz="2000" dirty="0" smtClean="0"/>
              <a:t>.</a:t>
            </a:r>
            <a:endParaRPr lang="en-US" sz="2000" dirty="0"/>
          </a:p>
        </p:txBody>
      </p:sp>
    </p:spTree>
    <p:extLst>
      <p:ext uri="{BB962C8B-B14F-4D97-AF65-F5344CB8AC3E}">
        <p14:creationId xmlns:p14="http://schemas.microsoft.com/office/powerpoint/2010/main" val="36534888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GB" sz="4000" dirty="0" smtClean="0"/>
              <a:t>1.2. </a:t>
            </a:r>
            <a:r>
              <a:rPr lang="en-US" sz="4000" dirty="0"/>
              <a:t>Designing Interview Questions</a:t>
            </a:r>
            <a:r>
              <a:rPr lang="en-US" sz="4000" b="1" dirty="0"/>
              <a:t>: </a:t>
            </a:r>
          </a:p>
        </p:txBody>
      </p:sp>
      <p:pic>
        <p:nvPicPr>
          <p:cNvPr id="5" name="عنصر نائب للمحتوى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3675" y="2276872"/>
            <a:ext cx="6196013" cy="3312367"/>
          </a:xfrm>
        </p:spPr>
      </p:pic>
    </p:spTree>
    <p:extLst>
      <p:ext uri="{BB962C8B-B14F-4D97-AF65-F5344CB8AC3E}">
        <p14:creationId xmlns:p14="http://schemas.microsoft.com/office/powerpoint/2010/main" val="18674510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sz="3600" dirty="0" smtClean="0"/>
              <a:t>1.2</a:t>
            </a:r>
            <a:r>
              <a:rPr lang="en-GB" sz="3600" dirty="0"/>
              <a:t>. </a:t>
            </a:r>
            <a:r>
              <a:rPr lang="en-US" sz="3600" dirty="0"/>
              <a:t>Designing Interview </a:t>
            </a:r>
            <a:r>
              <a:rPr lang="en-US" sz="3600" dirty="0" smtClean="0"/>
              <a:t>Questions (cont.): </a:t>
            </a:r>
            <a:endParaRPr lang="en-US" sz="3600" dirty="0"/>
          </a:p>
        </p:txBody>
      </p:sp>
      <p:sp>
        <p:nvSpPr>
          <p:cNvPr id="3" name="عنصر نائب للمحتوى 2"/>
          <p:cNvSpPr>
            <a:spLocks noGrp="1"/>
          </p:cNvSpPr>
          <p:nvPr>
            <p:ph idx="1"/>
          </p:nvPr>
        </p:nvSpPr>
        <p:spPr/>
        <p:txBody>
          <a:bodyPr>
            <a:normAutofit/>
          </a:bodyPr>
          <a:lstStyle/>
          <a:p>
            <a:r>
              <a:rPr lang="en-US" sz="2000" dirty="0"/>
              <a:t>The top-down approach is an appropriate strategy for most interviews </a:t>
            </a:r>
            <a:r>
              <a:rPr lang="en-US" sz="2000" dirty="0" smtClean="0"/>
              <a:t>;</a:t>
            </a:r>
          </a:p>
          <a:p>
            <a:endParaRPr lang="en-US" sz="2000" dirty="0" smtClean="0"/>
          </a:p>
          <a:p>
            <a:r>
              <a:rPr lang="en-US" sz="2000" dirty="0"/>
              <a:t>Starting with general questions helps both the interviewee and the interviewer — the interviewee gets familiar with the topic, and the interviewer gains a basic understanding before asking detailed questions</a:t>
            </a:r>
            <a:endParaRPr lang="en-US" sz="2000" dirty="0" smtClean="0"/>
          </a:p>
        </p:txBody>
      </p:sp>
    </p:spTree>
    <p:extLst>
      <p:ext uri="{BB962C8B-B14F-4D97-AF65-F5344CB8AC3E}">
        <p14:creationId xmlns:p14="http://schemas.microsoft.com/office/powerpoint/2010/main" val="2314776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628800"/>
            <a:ext cx="5736332" cy="3672408"/>
          </a:xfrm>
          <a:prstGeom prst="rect">
            <a:avLst/>
          </a:prstGeom>
          <a:noFill/>
          <a:ln>
            <a:noFill/>
          </a:ln>
        </p:spPr>
      </p:pic>
    </p:spTree>
    <p:extLst>
      <p:ext uri="{BB962C8B-B14F-4D97-AF65-F5344CB8AC3E}">
        <p14:creationId xmlns:p14="http://schemas.microsoft.com/office/powerpoint/2010/main" val="40695971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sz="4000" b="1" dirty="0" smtClean="0"/>
              <a:t>1.3.Preparing </a:t>
            </a:r>
            <a:r>
              <a:rPr lang="en-US" sz="4000" b="1" dirty="0"/>
              <a:t>for the </a:t>
            </a:r>
            <a:r>
              <a:rPr lang="en-US" sz="4000" b="1" dirty="0" smtClean="0"/>
              <a:t>Interview</a:t>
            </a:r>
            <a:r>
              <a:rPr lang="en-US" sz="4000" dirty="0"/>
              <a:t>:</a:t>
            </a:r>
          </a:p>
        </p:txBody>
      </p:sp>
      <p:sp>
        <p:nvSpPr>
          <p:cNvPr id="3" name="عنصر نائب للمحتوى 2"/>
          <p:cNvSpPr>
            <a:spLocks noGrp="1"/>
          </p:cNvSpPr>
          <p:nvPr>
            <p:ph idx="1"/>
          </p:nvPr>
        </p:nvSpPr>
        <p:spPr/>
        <p:txBody>
          <a:bodyPr>
            <a:normAutofit/>
          </a:bodyPr>
          <a:lstStyle/>
          <a:p>
            <a:r>
              <a:rPr lang="en-US" sz="2000" dirty="0" smtClean="0"/>
              <a:t>The </a:t>
            </a:r>
            <a:r>
              <a:rPr lang="en-US" sz="2000" dirty="0"/>
              <a:t>interviewer needs a structured plan with well-ordered questions, should predict possible responses for effective follow-up, and smoothly transition between related topics.</a:t>
            </a:r>
            <a:endParaRPr lang="en-US" sz="2000" dirty="0"/>
          </a:p>
        </p:txBody>
      </p:sp>
    </p:spTree>
    <p:extLst>
      <p:ext uri="{BB962C8B-B14F-4D97-AF65-F5344CB8AC3E}">
        <p14:creationId xmlns:p14="http://schemas.microsoft.com/office/powerpoint/2010/main" val="42812925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sz="4000" dirty="0" smtClean="0"/>
              <a:t>1.4. </a:t>
            </a:r>
            <a:r>
              <a:rPr lang="en-US" sz="4000" dirty="0"/>
              <a:t>Conducting the Interview </a:t>
            </a:r>
          </a:p>
        </p:txBody>
      </p:sp>
      <p:sp>
        <p:nvSpPr>
          <p:cNvPr id="3" name="عنصر نائب للمحتوى 2"/>
          <p:cNvSpPr>
            <a:spLocks noGrp="1"/>
          </p:cNvSpPr>
          <p:nvPr>
            <p:ph idx="1"/>
          </p:nvPr>
        </p:nvSpPr>
        <p:spPr/>
        <p:txBody>
          <a:bodyPr>
            <a:normAutofit/>
          </a:bodyPr>
          <a:lstStyle/>
          <a:p>
            <a:r>
              <a:rPr lang="en-US" sz="2000" dirty="0"/>
              <a:t>The interviewer’s first goal is to build trust and </a:t>
            </a:r>
            <a:r>
              <a:rPr lang="en-US" sz="2000" dirty="0" smtClean="0"/>
              <a:t>rapport</a:t>
            </a:r>
            <a:r>
              <a:rPr lang="ar-LY" sz="2000" dirty="0"/>
              <a:t> </a:t>
            </a:r>
            <a:r>
              <a:rPr lang="en-GB" sz="2000" dirty="0" smtClean="0"/>
              <a:t> with </a:t>
            </a:r>
            <a:r>
              <a:rPr lang="en-US" sz="2000" dirty="0"/>
              <a:t>the interviewee </a:t>
            </a:r>
            <a:r>
              <a:rPr lang="en-US" sz="2000" dirty="0" smtClean="0"/>
              <a:t>so he/ she </a:t>
            </a:r>
            <a:r>
              <a:rPr lang="en-US" sz="2000" dirty="0"/>
              <a:t>feels comfortable sharing honest information. </a:t>
            </a:r>
            <a:endParaRPr lang="en-US" sz="2000" dirty="0" smtClean="0"/>
          </a:p>
          <a:p>
            <a:r>
              <a:rPr lang="en-US" sz="2000" dirty="0" smtClean="0"/>
              <a:t>The </a:t>
            </a:r>
            <a:r>
              <a:rPr lang="en-US" sz="2000" dirty="0"/>
              <a:t>interviewer should act professionally and remain neutral. The interview begins with an explanation of its purpose and the reason for selecting the interviewee, followed by the planned questions.</a:t>
            </a:r>
          </a:p>
        </p:txBody>
      </p:sp>
    </p:spTree>
    <p:extLst>
      <p:ext uri="{BB962C8B-B14F-4D97-AF65-F5344CB8AC3E}">
        <p14:creationId xmlns:p14="http://schemas.microsoft.com/office/powerpoint/2010/main" val="1930448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sz="4000" dirty="0" smtClean="0"/>
              <a:t>1.5. </a:t>
            </a:r>
            <a:r>
              <a:rPr lang="en-US" sz="4000" b="1" dirty="0"/>
              <a:t>Post interview </a:t>
            </a:r>
            <a:r>
              <a:rPr lang="en-US" sz="4000" b="1" dirty="0" smtClean="0"/>
              <a:t>Follow-up:</a:t>
            </a:r>
            <a:r>
              <a:rPr lang="en-US" sz="4000" dirty="0" smtClean="0"/>
              <a:t> </a:t>
            </a:r>
            <a:endParaRPr lang="en-US" sz="4000" dirty="0"/>
          </a:p>
        </p:txBody>
      </p:sp>
      <p:sp>
        <p:nvSpPr>
          <p:cNvPr id="3" name="عنصر نائب للمحتوى 2"/>
          <p:cNvSpPr>
            <a:spLocks noGrp="1"/>
          </p:cNvSpPr>
          <p:nvPr>
            <p:ph idx="1"/>
          </p:nvPr>
        </p:nvSpPr>
        <p:spPr/>
        <p:txBody>
          <a:bodyPr>
            <a:normAutofit/>
          </a:bodyPr>
          <a:lstStyle/>
          <a:p>
            <a:r>
              <a:rPr lang="en-US" sz="2000" dirty="0"/>
              <a:t>T</a:t>
            </a:r>
            <a:r>
              <a:rPr lang="en-US" sz="2000" dirty="0" smtClean="0"/>
              <a:t>he </a:t>
            </a:r>
            <a:r>
              <a:rPr lang="en-US" sz="2000" dirty="0"/>
              <a:t>analyst needs to prepare an interview report that describes the information from the interview</a:t>
            </a:r>
            <a:r>
              <a:rPr lang="en-US" sz="2000" dirty="0" smtClean="0"/>
              <a:t>.</a:t>
            </a:r>
          </a:p>
          <a:p>
            <a:endParaRPr lang="en-GB" sz="2000" dirty="0"/>
          </a:p>
          <a:p>
            <a:r>
              <a:rPr lang="en-US" sz="2000" dirty="0"/>
              <a:t>T</a:t>
            </a:r>
            <a:r>
              <a:rPr lang="en-US" sz="2000" dirty="0" smtClean="0"/>
              <a:t>he </a:t>
            </a:r>
            <a:r>
              <a:rPr lang="en-US" sz="2000" dirty="0"/>
              <a:t>interview report should be written within forty-eight hours of the interview, because the longer the interviewer waits, the more likely he or she is to forget information.</a:t>
            </a:r>
          </a:p>
          <a:p>
            <a:endParaRPr lang="en-US" sz="2000" dirty="0"/>
          </a:p>
        </p:txBody>
      </p:sp>
    </p:spTree>
    <p:extLst>
      <p:ext uri="{BB962C8B-B14F-4D97-AF65-F5344CB8AC3E}">
        <p14:creationId xmlns:p14="http://schemas.microsoft.com/office/powerpoint/2010/main" val="13373258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GB" sz="4000" dirty="0" smtClean="0"/>
              <a:t>2. </a:t>
            </a:r>
            <a:r>
              <a:rPr lang="en-US" sz="4000" b="1" dirty="0"/>
              <a:t>Joint Application Development (JAD)</a:t>
            </a:r>
            <a:endParaRPr lang="en-US" sz="4000" dirty="0"/>
          </a:p>
        </p:txBody>
      </p:sp>
      <p:sp>
        <p:nvSpPr>
          <p:cNvPr id="3" name="عنصر نائب للمحتوى 2"/>
          <p:cNvSpPr>
            <a:spLocks noGrp="1"/>
          </p:cNvSpPr>
          <p:nvPr>
            <p:ph idx="1"/>
          </p:nvPr>
        </p:nvSpPr>
        <p:spPr/>
        <p:txBody>
          <a:bodyPr>
            <a:normAutofit/>
          </a:bodyPr>
          <a:lstStyle/>
          <a:p>
            <a:pPr algn="just"/>
            <a:r>
              <a:rPr lang="en-US" sz="2000" dirty="0"/>
              <a:t>Joint Application Design (JAD) is a structured technique for gathering system requirements through collaboration among the project team, users, and management. </a:t>
            </a:r>
            <a:endParaRPr lang="en-US" sz="2000" dirty="0" smtClean="0"/>
          </a:p>
          <a:p>
            <a:pPr algn="just"/>
            <a:endParaRPr lang="en-US" sz="2000" dirty="0" smtClean="0"/>
          </a:p>
          <a:p>
            <a:pPr algn="just"/>
            <a:r>
              <a:rPr lang="en-US" sz="2000" dirty="0" smtClean="0"/>
              <a:t>Developed </a:t>
            </a:r>
            <a:r>
              <a:rPr lang="en-US" sz="2000" dirty="0"/>
              <a:t>by IBM in the late 1970s, </a:t>
            </a:r>
            <a:endParaRPr lang="en-US" sz="2000" dirty="0" smtClean="0"/>
          </a:p>
          <a:p>
            <a:pPr marL="0" indent="0" algn="just">
              <a:buNone/>
            </a:pPr>
            <a:endParaRPr lang="en-US" sz="2000" dirty="0" smtClean="0"/>
          </a:p>
          <a:p>
            <a:pPr algn="just"/>
            <a:r>
              <a:rPr lang="en-US" sz="2000" dirty="0" smtClean="0"/>
              <a:t>JAD </a:t>
            </a:r>
            <a:r>
              <a:rPr lang="en-US" sz="2000" dirty="0"/>
              <a:t>involves 10–20 users meeting under the guidance of a skilled facilitator to identify system needs effectively.</a:t>
            </a:r>
            <a:endParaRPr lang="en-US" sz="2000" dirty="0"/>
          </a:p>
        </p:txBody>
      </p:sp>
    </p:spTree>
    <p:extLst>
      <p:ext uri="{BB962C8B-B14F-4D97-AF65-F5344CB8AC3E}">
        <p14:creationId xmlns:p14="http://schemas.microsoft.com/office/powerpoint/2010/main" val="28914809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pPr algn="l"/>
            <a:r>
              <a:rPr lang="en-GB" sz="4000" dirty="0"/>
              <a:t>2. </a:t>
            </a:r>
            <a:r>
              <a:rPr lang="en-US" sz="4000" b="1" dirty="0"/>
              <a:t>Joint Application Development (JAD</a:t>
            </a:r>
            <a:r>
              <a:rPr lang="en-US" sz="4000" b="1" dirty="0" smtClean="0"/>
              <a:t>)(cont.):</a:t>
            </a:r>
            <a:endParaRPr lang="en-US" sz="4000" dirty="0"/>
          </a:p>
        </p:txBody>
      </p:sp>
      <p:sp>
        <p:nvSpPr>
          <p:cNvPr id="3" name="عنصر نائب للمحتوى 2"/>
          <p:cNvSpPr>
            <a:spLocks noGrp="1"/>
          </p:cNvSpPr>
          <p:nvPr>
            <p:ph idx="1"/>
          </p:nvPr>
        </p:nvSpPr>
        <p:spPr/>
        <p:txBody>
          <a:bodyPr>
            <a:normAutofit fontScale="92500"/>
          </a:bodyPr>
          <a:lstStyle/>
          <a:p>
            <a:r>
              <a:rPr lang="en-US" sz="2200" dirty="0"/>
              <a:t>The facilitator is a person who sets the meeting agenda and guides the discussion but does not join in the discussion as a </a:t>
            </a:r>
            <a:r>
              <a:rPr lang="en-US" sz="2200" dirty="0" smtClean="0"/>
              <a:t>participant</a:t>
            </a:r>
          </a:p>
          <a:p>
            <a:endParaRPr lang="en-GB" sz="2200" dirty="0"/>
          </a:p>
          <a:p>
            <a:r>
              <a:rPr lang="en-US" sz="2200" dirty="0"/>
              <a:t>The facilitator must be an expert in both group process </a:t>
            </a:r>
            <a:r>
              <a:rPr lang="en-US" sz="2200" dirty="0" smtClean="0"/>
              <a:t>techniques and systems </a:t>
            </a:r>
            <a:r>
              <a:rPr lang="en-US" sz="2200" dirty="0"/>
              <a:t>analysis and design techniques. </a:t>
            </a:r>
            <a:endParaRPr lang="en-US" sz="2200" dirty="0" smtClean="0"/>
          </a:p>
          <a:p>
            <a:endParaRPr lang="en-GB" sz="2200" dirty="0"/>
          </a:p>
          <a:p>
            <a:r>
              <a:rPr lang="en-US" sz="2200" dirty="0"/>
              <a:t>Often the scribes will use computers and CASE tools to record information as the JAD session proceeds.  </a:t>
            </a:r>
          </a:p>
          <a:p>
            <a:endParaRPr lang="en-US" dirty="0"/>
          </a:p>
        </p:txBody>
      </p:sp>
    </p:spTree>
    <p:extLst>
      <p:ext uri="{BB962C8B-B14F-4D97-AF65-F5344CB8AC3E}">
        <p14:creationId xmlns:p14="http://schemas.microsoft.com/office/powerpoint/2010/main" val="173783885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dirty="0" smtClean="0"/>
              <a:t>JAD (cont.):</a:t>
            </a:r>
            <a:endParaRPr lang="en-US" dirty="0"/>
          </a:p>
        </p:txBody>
      </p:sp>
      <p:sp>
        <p:nvSpPr>
          <p:cNvPr id="3" name="عنصر نائب للمحتوى 2"/>
          <p:cNvSpPr>
            <a:spLocks noGrp="1"/>
          </p:cNvSpPr>
          <p:nvPr>
            <p:ph idx="1"/>
          </p:nvPr>
        </p:nvSpPr>
        <p:spPr>
          <a:xfrm>
            <a:off x="1115616" y="2060848"/>
            <a:ext cx="6840760" cy="3744416"/>
          </a:xfrm>
        </p:spPr>
        <p:txBody>
          <a:bodyPr>
            <a:normAutofit/>
          </a:bodyPr>
          <a:lstStyle/>
          <a:p>
            <a:pPr marL="457200" indent="-457200" algn="just">
              <a:buAutoNum type="arabicPeriod"/>
            </a:pPr>
            <a:r>
              <a:rPr lang="en-US" sz="2000" b="1" dirty="0" smtClean="0"/>
              <a:t>Selecting </a:t>
            </a:r>
            <a:r>
              <a:rPr lang="en-US" sz="2000" b="1" dirty="0"/>
              <a:t>Participants</a:t>
            </a:r>
            <a:r>
              <a:rPr lang="en-US" sz="2000" dirty="0"/>
              <a:t> </a:t>
            </a:r>
            <a:r>
              <a:rPr lang="en-US" sz="2000" dirty="0" smtClean="0"/>
              <a:t>:</a:t>
            </a:r>
          </a:p>
          <a:p>
            <a:pPr marL="0" indent="0" algn="just">
              <a:buNone/>
            </a:pPr>
            <a:r>
              <a:rPr lang="en-US" sz="2000" dirty="0"/>
              <a:t>	</a:t>
            </a:r>
            <a:r>
              <a:rPr lang="en-US" sz="2000" dirty="0" smtClean="0"/>
              <a:t>is </a:t>
            </a:r>
            <a:r>
              <a:rPr lang="en-US" sz="2000" dirty="0"/>
              <a:t>done in the same basic way as selecting interview </a:t>
            </a:r>
            <a:r>
              <a:rPr lang="en-US" sz="2000" dirty="0" smtClean="0"/>
              <a:t>	participants.</a:t>
            </a:r>
          </a:p>
          <a:p>
            <a:pPr marL="0" indent="0" algn="just">
              <a:buNone/>
            </a:pPr>
            <a:r>
              <a:rPr lang="en-US" sz="2000" b="1" dirty="0" smtClean="0"/>
              <a:t>2. Designing </a:t>
            </a:r>
            <a:r>
              <a:rPr lang="en-US" sz="2000" b="1" dirty="0"/>
              <a:t>a JAD Session </a:t>
            </a:r>
            <a:r>
              <a:rPr lang="en-US" sz="2000" b="1" dirty="0" smtClean="0"/>
              <a:t> : </a:t>
            </a:r>
          </a:p>
          <a:p>
            <a:pPr marL="0" indent="0" algn="just">
              <a:buNone/>
            </a:pPr>
            <a:r>
              <a:rPr lang="en-US" sz="2000" b="1" dirty="0"/>
              <a:t>	</a:t>
            </a:r>
            <a:r>
              <a:rPr lang="en-US" sz="2000" dirty="0" smtClean="0"/>
              <a:t>can </a:t>
            </a:r>
            <a:r>
              <a:rPr lang="en-US" sz="2000" dirty="0"/>
              <a:t>run from as little as half a day to several weeks, </a:t>
            </a:r>
            <a:r>
              <a:rPr lang="en-US" sz="2000" dirty="0" smtClean="0"/>
              <a:t>	depending </a:t>
            </a:r>
            <a:r>
              <a:rPr lang="en-US" sz="2000" dirty="0"/>
              <a:t>upon the size and scope of the project. </a:t>
            </a:r>
            <a:endParaRPr lang="en-US" sz="2000" dirty="0" smtClean="0"/>
          </a:p>
          <a:p>
            <a:pPr marL="0" indent="0" algn="just">
              <a:buNone/>
            </a:pPr>
            <a:r>
              <a:rPr lang="en-GB" sz="2000" b="1" dirty="0" smtClean="0"/>
              <a:t>3. </a:t>
            </a:r>
            <a:r>
              <a:rPr lang="en-US" sz="2000" b="1" dirty="0"/>
              <a:t>Preparing for a JAD Session </a:t>
            </a:r>
            <a:r>
              <a:rPr lang="en-US" sz="2000" dirty="0"/>
              <a:t>As with interviewing, it </a:t>
            </a:r>
            <a:r>
              <a:rPr lang="en-US" sz="2000" dirty="0" smtClean="0"/>
              <a:t>is important </a:t>
            </a:r>
            <a:r>
              <a:rPr lang="en-US" sz="2000" dirty="0"/>
              <a:t>to prepare the analysts and participants for a JAD session. Because the sessions can go beyond the depth of a typical interview and are usually conducted off-site</a:t>
            </a:r>
            <a:r>
              <a:rPr lang="en-US" sz="2000" dirty="0" smtClean="0"/>
              <a:t>;</a:t>
            </a:r>
          </a:p>
        </p:txBody>
      </p:sp>
    </p:spTree>
    <p:extLst>
      <p:ext uri="{BB962C8B-B14F-4D97-AF65-F5344CB8AC3E}">
        <p14:creationId xmlns:p14="http://schemas.microsoft.com/office/powerpoint/2010/main" val="11016155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dirty="0"/>
              <a:t>JAD (cont.):</a:t>
            </a:r>
            <a:endParaRPr lang="en-US" dirty="0"/>
          </a:p>
        </p:txBody>
      </p:sp>
      <p:sp>
        <p:nvSpPr>
          <p:cNvPr id="3" name="عنصر نائب للمحتوى 2"/>
          <p:cNvSpPr>
            <a:spLocks noGrp="1"/>
          </p:cNvSpPr>
          <p:nvPr>
            <p:ph idx="1"/>
          </p:nvPr>
        </p:nvSpPr>
        <p:spPr/>
        <p:txBody>
          <a:bodyPr>
            <a:normAutofit lnSpcReduction="10000"/>
          </a:bodyPr>
          <a:lstStyle/>
          <a:p>
            <a:pPr algn="just"/>
            <a:r>
              <a:rPr lang="en-US" sz="2000" b="1" dirty="0"/>
              <a:t>4. Conducting a JAD Session</a:t>
            </a:r>
            <a:r>
              <a:rPr lang="en-US" sz="2000" dirty="0"/>
              <a:t> </a:t>
            </a:r>
            <a:endParaRPr lang="en-US" sz="2000" dirty="0" smtClean="0"/>
          </a:p>
          <a:p>
            <a:pPr marL="0" indent="0" algn="just">
              <a:buNone/>
            </a:pPr>
            <a:r>
              <a:rPr lang="en-US" sz="2000" dirty="0"/>
              <a:t>	</a:t>
            </a:r>
            <a:r>
              <a:rPr lang="en-US" sz="2000" dirty="0" smtClean="0"/>
              <a:t>Most </a:t>
            </a:r>
            <a:r>
              <a:rPr lang="en-US" sz="2000" dirty="0"/>
              <a:t>JAD sessions try to follow a formal </a:t>
            </a:r>
            <a:r>
              <a:rPr lang="en-US" sz="2000" dirty="0" smtClean="0"/>
              <a:t>	agenda</a:t>
            </a:r>
            <a:r>
              <a:rPr lang="en-US" sz="2000" dirty="0"/>
              <a:t>, and most have formal ground </a:t>
            </a:r>
            <a:r>
              <a:rPr lang="en-US" sz="2000" dirty="0" smtClean="0"/>
              <a:t>	rules </a:t>
            </a:r>
            <a:r>
              <a:rPr lang="en-US" sz="2000" dirty="0"/>
              <a:t>that deﬁne appropriate behavior</a:t>
            </a:r>
          </a:p>
          <a:p>
            <a:pPr algn="just"/>
            <a:r>
              <a:rPr lang="en-US" sz="2000" b="1" dirty="0"/>
              <a:t>5. Post-JAD Follow-up</a:t>
            </a:r>
            <a:r>
              <a:rPr lang="en-US" sz="2000" dirty="0"/>
              <a:t>: </a:t>
            </a:r>
          </a:p>
          <a:p>
            <a:pPr marL="0" indent="0" algn="just">
              <a:buNone/>
            </a:pPr>
            <a:r>
              <a:rPr lang="en-US" sz="2000" dirty="0"/>
              <a:t>	</a:t>
            </a:r>
            <a:r>
              <a:rPr lang="en-US" sz="2000" dirty="0" smtClean="0"/>
              <a:t>The </a:t>
            </a:r>
            <a:r>
              <a:rPr lang="en-US" sz="2000" dirty="0"/>
              <a:t>post session report is essentially the </a:t>
            </a:r>
            <a:r>
              <a:rPr lang="en-US" sz="2000" dirty="0" smtClean="0"/>
              <a:t>	same </a:t>
            </a:r>
            <a:r>
              <a:rPr lang="en-US" sz="2000" dirty="0"/>
              <a:t>as the interview report. Because the </a:t>
            </a:r>
            <a:r>
              <a:rPr lang="en-US" sz="2000" dirty="0" smtClean="0"/>
              <a:t>	JAD </a:t>
            </a:r>
            <a:r>
              <a:rPr lang="en-US" sz="2000" dirty="0"/>
              <a:t>sessions are longer and provide more </a:t>
            </a:r>
            <a:r>
              <a:rPr lang="en-US" sz="2000" dirty="0" smtClean="0"/>
              <a:t>	information</a:t>
            </a:r>
            <a:r>
              <a:rPr lang="en-US" sz="2000" dirty="0"/>
              <a:t>, it usually takes a week or two </a:t>
            </a:r>
            <a:r>
              <a:rPr lang="en-US" sz="2000" dirty="0" smtClean="0"/>
              <a:t>	</a:t>
            </a:r>
            <a:r>
              <a:rPr lang="en-US" sz="2000" dirty="0" smtClean="0"/>
              <a:t>after 	the </a:t>
            </a:r>
            <a:r>
              <a:rPr lang="en-US" sz="2000" dirty="0"/>
              <a:t>JAD session before the report is </a:t>
            </a:r>
            <a:r>
              <a:rPr lang="en-US" sz="2000" dirty="0" smtClean="0"/>
              <a:t>	complete</a:t>
            </a:r>
            <a:endParaRPr lang="en-US" sz="2000" dirty="0"/>
          </a:p>
        </p:txBody>
      </p:sp>
    </p:spTree>
    <p:extLst>
      <p:ext uri="{BB962C8B-B14F-4D97-AF65-F5344CB8AC3E}">
        <p14:creationId xmlns:p14="http://schemas.microsoft.com/office/powerpoint/2010/main" val="745462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sz="4000" dirty="0" smtClean="0"/>
              <a:t>3. </a:t>
            </a:r>
            <a:r>
              <a:rPr lang="en-US" sz="4000" b="1" dirty="0"/>
              <a:t>Questionnaires </a:t>
            </a:r>
            <a:r>
              <a:rPr lang="en-US" sz="4000" dirty="0"/>
              <a:t/>
            </a:r>
            <a:br>
              <a:rPr lang="en-US" sz="4000" dirty="0"/>
            </a:br>
            <a:endParaRPr lang="en-US" sz="4000" dirty="0"/>
          </a:p>
        </p:txBody>
      </p:sp>
      <p:sp>
        <p:nvSpPr>
          <p:cNvPr id="3" name="عنصر نائب للمحتوى 2"/>
          <p:cNvSpPr>
            <a:spLocks noGrp="1"/>
          </p:cNvSpPr>
          <p:nvPr>
            <p:ph idx="1"/>
          </p:nvPr>
        </p:nvSpPr>
        <p:spPr/>
        <p:txBody>
          <a:bodyPr>
            <a:normAutofit/>
          </a:bodyPr>
          <a:lstStyle/>
          <a:p>
            <a:pPr algn="just"/>
            <a:endParaRPr lang="en-US" sz="2000" dirty="0" smtClean="0"/>
          </a:p>
          <a:p>
            <a:pPr algn="just"/>
            <a:r>
              <a:rPr lang="en-US" sz="2000" dirty="0" smtClean="0"/>
              <a:t>A </a:t>
            </a:r>
            <a:r>
              <a:rPr lang="en-US" sz="2000" dirty="0"/>
              <a:t>questionnaire is a set of written questions used to obtain information from individuals. Questionnaires are often used when there is a large number of people from whom information and opinions are </a:t>
            </a:r>
            <a:r>
              <a:rPr lang="en-US" sz="2000" dirty="0" smtClean="0"/>
              <a:t>needed;</a:t>
            </a:r>
          </a:p>
          <a:p>
            <a:pPr algn="just"/>
            <a:endParaRPr lang="en-GB" sz="2000" dirty="0"/>
          </a:p>
          <a:p>
            <a:pPr algn="just"/>
            <a:endParaRPr lang="en-US" sz="2000" dirty="0"/>
          </a:p>
        </p:txBody>
      </p:sp>
    </p:spTree>
    <p:extLst>
      <p:ext uri="{BB962C8B-B14F-4D97-AF65-F5344CB8AC3E}">
        <p14:creationId xmlns:p14="http://schemas.microsoft.com/office/powerpoint/2010/main" val="1629529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sz="4000" dirty="0"/>
              <a:t>3. </a:t>
            </a:r>
            <a:r>
              <a:rPr lang="en-US" sz="4000" b="1" dirty="0"/>
              <a:t>Questionnaires </a:t>
            </a:r>
            <a:r>
              <a:rPr lang="en-US" sz="4000" b="1" dirty="0" smtClean="0"/>
              <a:t>(cont.):</a:t>
            </a:r>
            <a:r>
              <a:rPr lang="en-US" sz="4000" dirty="0"/>
              <a:t/>
            </a:r>
            <a:br>
              <a:rPr lang="en-US" sz="4000" dirty="0"/>
            </a:br>
            <a:endParaRPr lang="en-US" sz="4000" dirty="0"/>
          </a:p>
        </p:txBody>
      </p:sp>
      <p:pic>
        <p:nvPicPr>
          <p:cNvPr id="4" name="Picture 7"/>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2132856"/>
            <a:ext cx="6912768" cy="3456384"/>
          </a:xfrm>
          <a:prstGeom prst="rect">
            <a:avLst/>
          </a:prstGeom>
          <a:noFill/>
          <a:ln>
            <a:noFill/>
          </a:ln>
        </p:spPr>
      </p:pic>
    </p:spTree>
    <p:extLst>
      <p:ext uri="{BB962C8B-B14F-4D97-AF65-F5344CB8AC3E}">
        <p14:creationId xmlns:p14="http://schemas.microsoft.com/office/powerpoint/2010/main" val="1017437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sz="4000" dirty="0"/>
              <a:t>3. </a:t>
            </a:r>
            <a:r>
              <a:rPr lang="en-US" sz="4000" b="1" dirty="0" smtClean="0"/>
              <a:t>Questionnaires: </a:t>
            </a:r>
            <a:r>
              <a:rPr lang="en-US" sz="4000" dirty="0"/>
              <a:t/>
            </a:r>
            <a:br>
              <a:rPr lang="en-US" sz="4000" dirty="0"/>
            </a:br>
            <a:endParaRPr lang="en-US" sz="4000" dirty="0"/>
          </a:p>
        </p:txBody>
      </p:sp>
      <p:sp>
        <p:nvSpPr>
          <p:cNvPr id="3" name="عنصر نائب للمحتوى 2"/>
          <p:cNvSpPr>
            <a:spLocks noGrp="1"/>
          </p:cNvSpPr>
          <p:nvPr>
            <p:ph idx="1"/>
          </p:nvPr>
        </p:nvSpPr>
        <p:spPr/>
        <p:txBody>
          <a:bodyPr>
            <a:normAutofit/>
          </a:bodyPr>
          <a:lstStyle/>
          <a:p>
            <a:pPr algn="just"/>
            <a:r>
              <a:rPr lang="en-US" sz="2000" b="1" dirty="0"/>
              <a:t>Selecting </a:t>
            </a:r>
            <a:r>
              <a:rPr lang="en-US" sz="2000" b="1" dirty="0" smtClean="0"/>
              <a:t>Participants</a:t>
            </a:r>
            <a:r>
              <a:rPr lang="en-US" sz="2000" dirty="0" smtClean="0"/>
              <a:t>: The </a:t>
            </a:r>
            <a:r>
              <a:rPr lang="en-US" sz="2000" dirty="0"/>
              <a:t>ﬁrst step is to identify the individuals to whom the questionnaire will be </a:t>
            </a:r>
            <a:r>
              <a:rPr lang="en-US" sz="2000" dirty="0" smtClean="0"/>
              <a:t>sent;</a:t>
            </a:r>
          </a:p>
          <a:p>
            <a:pPr algn="just"/>
            <a:r>
              <a:rPr lang="en-US" sz="2000" b="1" dirty="0"/>
              <a:t>Designing a Questionnaire</a:t>
            </a:r>
            <a:r>
              <a:rPr lang="en-US" sz="2000" dirty="0"/>
              <a:t>: </a:t>
            </a:r>
            <a:r>
              <a:rPr lang="en-US" sz="2000" dirty="0"/>
              <a:t>Creating clear and well-designed questions is essential in questionnaires since respondents cannot ask for immediate clarification if they find a question confusing</a:t>
            </a:r>
            <a:r>
              <a:rPr lang="en-US" sz="2000" dirty="0" smtClean="0"/>
              <a:t>.</a:t>
            </a:r>
          </a:p>
          <a:p>
            <a:pPr algn="just"/>
            <a:r>
              <a:rPr lang="en-US" sz="2000" b="1" dirty="0" smtClean="0"/>
              <a:t>Administering </a:t>
            </a:r>
            <a:r>
              <a:rPr lang="en-US" sz="2000" b="1" dirty="0"/>
              <a:t>the Questionnaire</a:t>
            </a:r>
            <a:r>
              <a:rPr lang="en-US" sz="2000" dirty="0"/>
              <a:t> The key issue in administering the questionnaire is </a:t>
            </a:r>
            <a:r>
              <a:rPr lang="en-US" sz="2000" dirty="0" smtClean="0"/>
              <a:t>getting </a:t>
            </a:r>
            <a:r>
              <a:rPr lang="en-US" sz="2000" dirty="0"/>
              <a:t>participants to complete the questionnaire and send it back</a:t>
            </a:r>
            <a:r>
              <a:rPr lang="en-US" sz="2000" dirty="0" smtClean="0"/>
              <a:t>.</a:t>
            </a:r>
          </a:p>
        </p:txBody>
      </p:sp>
    </p:spTree>
    <p:extLst>
      <p:ext uri="{BB962C8B-B14F-4D97-AF65-F5344CB8AC3E}">
        <p14:creationId xmlns:p14="http://schemas.microsoft.com/office/powerpoint/2010/main" val="1831929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dirty="0"/>
              <a:t>3. </a:t>
            </a:r>
            <a:r>
              <a:rPr lang="en-US" b="1" dirty="0"/>
              <a:t>Questionnaires: </a:t>
            </a:r>
            <a:r>
              <a:rPr lang="en-US" dirty="0"/>
              <a:t/>
            </a:r>
            <a:br>
              <a:rPr lang="en-US" dirty="0"/>
            </a:br>
            <a:endParaRPr lang="en-US" dirty="0"/>
          </a:p>
        </p:txBody>
      </p:sp>
      <p:sp>
        <p:nvSpPr>
          <p:cNvPr id="3" name="عنصر نائب للمحتوى 2"/>
          <p:cNvSpPr>
            <a:spLocks noGrp="1"/>
          </p:cNvSpPr>
          <p:nvPr>
            <p:ph idx="1"/>
          </p:nvPr>
        </p:nvSpPr>
        <p:spPr/>
        <p:txBody>
          <a:bodyPr>
            <a:normAutofit/>
          </a:bodyPr>
          <a:lstStyle/>
          <a:p>
            <a:pPr algn="just"/>
            <a:r>
              <a:rPr lang="en-US" sz="2000" b="1" dirty="0"/>
              <a:t>Questionnaire Follow-up</a:t>
            </a:r>
            <a:r>
              <a:rPr lang="en-US" sz="2000" dirty="0"/>
              <a:t> </a:t>
            </a:r>
            <a:r>
              <a:rPr lang="en-US" sz="2000" dirty="0" smtClean="0"/>
              <a:t>:</a:t>
            </a:r>
          </a:p>
          <a:p>
            <a:pPr marL="0" indent="0" algn="just">
              <a:buNone/>
            </a:pPr>
            <a:r>
              <a:rPr lang="en-US" sz="2000" dirty="0"/>
              <a:t>It is helpful to process the returned questionnaires and develop a questionnaire report soon after the questionnaire deadline. This ensures that the analysis process proceeds in a timely fashion and that respondent who requested copies of the results receive them promptly.</a:t>
            </a:r>
          </a:p>
          <a:p>
            <a:pPr marL="0" indent="0" algn="just">
              <a:buNone/>
            </a:pPr>
            <a:endParaRPr lang="en-GB" sz="2000" dirty="0"/>
          </a:p>
          <a:p>
            <a:pPr algn="just"/>
            <a:endParaRPr lang="en-US" sz="2000" dirty="0"/>
          </a:p>
        </p:txBody>
      </p:sp>
    </p:spTree>
    <p:extLst>
      <p:ext uri="{BB962C8B-B14F-4D97-AF65-F5344CB8AC3E}">
        <p14:creationId xmlns:p14="http://schemas.microsoft.com/office/powerpoint/2010/main" val="341465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GB" dirty="0" smtClean="0"/>
              <a:t>4. </a:t>
            </a:r>
            <a:r>
              <a:rPr lang="en-US" dirty="0"/>
              <a:t>Document Analysis</a:t>
            </a:r>
          </a:p>
        </p:txBody>
      </p:sp>
      <p:sp>
        <p:nvSpPr>
          <p:cNvPr id="3" name="عنصر نائب للمحتوى 2"/>
          <p:cNvSpPr>
            <a:spLocks noGrp="1"/>
          </p:cNvSpPr>
          <p:nvPr>
            <p:ph idx="1"/>
          </p:nvPr>
        </p:nvSpPr>
        <p:spPr/>
        <p:txBody>
          <a:bodyPr>
            <a:normAutofit/>
          </a:bodyPr>
          <a:lstStyle/>
          <a:p>
            <a:r>
              <a:rPr lang="en-US" sz="2000" dirty="0"/>
              <a:t>Project teams often use document analysis to understand the as-is system. </a:t>
            </a:r>
            <a:endParaRPr lang="en-US" sz="2000" dirty="0" smtClean="0"/>
          </a:p>
          <a:p>
            <a:pPr marL="0" indent="0">
              <a:buNone/>
            </a:pPr>
            <a:endParaRPr lang="en-US" sz="2000" dirty="0" smtClean="0"/>
          </a:p>
          <a:p>
            <a:r>
              <a:rPr lang="en-US" sz="2000" dirty="0" smtClean="0"/>
              <a:t>Under </a:t>
            </a:r>
            <a:r>
              <a:rPr lang="en-US" sz="2000" dirty="0"/>
              <a:t>ideal circumstances, the project team that developed the existing system will have produced documentation, which was then updated by all subsequent projects</a:t>
            </a:r>
            <a:r>
              <a:rPr lang="en-US" sz="2000" dirty="0" smtClean="0"/>
              <a:t>.</a:t>
            </a:r>
          </a:p>
          <a:p>
            <a:pPr marL="0" indent="0">
              <a:buNone/>
            </a:pPr>
            <a:endParaRPr lang="en-US" sz="2000" dirty="0" smtClean="0"/>
          </a:p>
          <a:p>
            <a:r>
              <a:rPr lang="en-US" sz="2000" dirty="0" smtClean="0"/>
              <a:t> </a:t>
            </a:r>
            <a:r>
              <a:rPr lang="en-US" sz="2000" dirty="0"/>
              <a:t>In this case, the project team can start by reviewing the documentation and examining the system itself. </a:t>
            </a:r>
          </a:p>
        </p:txBody>
      </p:sp>
    </p:spTree>
    <p:extLst>
      <p:ext uri="{BB962C8B-B14F-4D97-AF65-F5344CB8AC3E}">
        <p14:creationId xmlns:p14="http://schemas.microsoft.com/office/powerpoint/2010/main" val="3182792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GB" sz="4000" dirty="0"/>
              <a:t>5</a:t>
            </a:r>
            <a:r>
              <a:rPr lang="en-GB" sz="4000" dirty="0" smtClean="0"/>
              <a:t>. </a:t>
            </a:r>
            <a:r>
              <a:rPr lang="en-US" sz="4000" b="1" dirty="0" smtClean="0"/>
              <a:t>Observation:</a:t>
            </a:r>
            <a:r>
              <a:rPr lang="en-US" sz="4000" dirty="0"/>
              <a:t/>
            </a:r>
            <a:br>
              <a:rPr lang="en-US" sz="4000" dirty="0"/>
            </a:br>
            <a:endParaRPr lang="en-US" sz="4000" dirty="0"/>
          </a:p>
        </p:txBody>
      </p:sp>
      <p:sp>
        <p:nvSpPr>
          <p:cNvPr id="3" name="عنصر نائب للمحتوى 2"/>
          <p:cNvSpPr>
            <a:spLocks noGrp="1"/>
          </p:cNvSpPr>
          <p:nvPr>
            <p:ph idx="1"/>
          </p:nvPr>
        </p:nvSpPr>
        <p:spPr/>
        <p:txBody>
          <a:bodyPr>
            <a:normAutofit/>
          </a:bodyPr>
          <a:lstStyle/>
          <a:p>
            <a:r>
              <a:rPr lang="en-US" sz="2000" dirty="0"/>
              <a:t>Observation, the act of watching processes being performed, is a powerful tool for gathering information about the as-is system because it enables the analyst to see the reality of a situation, rather than listening to others describe it in interviews or </a:t>
            </a:r>
            <a:r>
              <a:rPr lang="en-US" sz="2000" dirty="0" smtClean="0"/>
              <a:t>JAD.</a:t>
            </a:r>
            <a:endParaRPr lang="en-US" sz="2000" dirty="0"/>
          </a:p>
          <a:p>
            <a:endParaRPr lang="en-US" sz="2000" dirty="0"/>
          </a:p>
        </p:txBody>
      </p:sp>
    </p:spTree>
    <p:extLst>
      <p:ext uri="{BB962C8B-B14F-4D97-AF65-F5344CB8AC3E}">
        <p14:creationId xmlns:p14="http://schemas.microsoft.com/office/powerpoint/2010/main" val="17594630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5129333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دبوس تثبيت">
  <a:themeElements>
    <a:clrScheme name="دبوس تثبيت">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دبوس تثبيت">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دبوس تثبيت">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748</TotalTime>
  <Words>1119</Words>
  <Application>Microsoft Office PowerPoint</Application>
  <PresentationFormat>عرض على الشاشة (3:4)‏</PresentationFormat>
  <Paragraphs>103</Paragraphs>
  <Slides>28</Slides>
  <Notes>0</Notes>
  <HiddenSlides>0</HiddenSlides>
  <MMClips>0</MMClips>
  <ScaleCrop>false</ScaleCrop>
  <HeadingPairs>
    <vt:vector size="4" baseType="variant">
      <vt:variant>
        <vt:lpstr>نسق</vt:lpstr>
      </vt:variant>
      <vt:variant>
        <vt:i4>1</vt:i4>
      </vt:variant>
      <vt:variant>
        <vt:lpstr>عناوين الشرائح</vt:lpstr>
      </vt:variant>
      <vt:variant>
        <vt:i4>28</vt:i4>
      </vt:variant>
    </vt:vector>
  </HeadingPairs>
  <TitlesOfParts>
    <vt:vector size="29" baseType="lpstr">
      <vt:lpstr>دبوس تثبيت</vt:lpstr>
      <vt:lpstr>System Analysis And Design</vt:lpstr>
      <vt:lpstr>Requirement Determination:</vt:lpstr>
      <vt:lpstr>Requirement Determination:</vt:lpstr>
      <vt:lpstr>Creating a Requirements Definition:</vt:lpstr>
      <vt:lpstr>Creating a Requirements Definition:</vt:lpstr>
      <vt:lpstr>To Create a requirement Definition:</vt:lpstr>
      <vt:lpstr>To Create a requirement Definition: (cont.)</vt:lpstr>
      <vt:lpstr>Requirements Analysis</vt:lpstr>
      <vt:lpstr>Requirements-Gathering Techniques  </vt:lpstr>
      <vt:lpstr>1. Interview:</vt:lpstr>
      <vt:lpstr>1.1. selecting interviewees </vt:lpstr>
      <vt:lpstr>1.2. Designing Interview Questions: </vt:lpstr>
      <vt:lpstr>1.2. Designing Interview Questions (cont.): </vt:lpstr>
      <vt:lpstr>عرض تقديمي في PowerPoint</vt:lpstr>
      <vt:lpstr>1.3.Preparing for the Interview:</vt:lpstr>
      <vt:lpstr>1.4. Conducting the Interview </vt:lpstr>
      <vt:lpstr>1.5. Post interview Follow-up: </vt:lpstr>
      <vt:lpstr>2. Joint Application Development (JAD)</vt:lpstr>
      <vt:lpstr>2. Joint Application Development (JAD)(cont.):</vt:lpstr>
      <vt:lpstr>JAD (cont.):</vt:lpstr>
      <vt:lpstr>JAD (cont.):</vt:lpstr>
      <vt:lpstr>3. Questionnaires  </vt:lpstr>
      <vt:lpstr>3. Questionnaires (cont.): </vt:lpstr>
      <vt:lpstr>3. Questionnaires:  </vt:lpstr>
      <vt:lpstr>3. Questionnaires:  </vt:lpstr>
      <vt:lpstr>4. Document Analysis</vt:lpstr>
      <vt:lpstr>5. Observation: </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Determination</dc:title>
  <dc:creator>osama-ali</dc:creator>
  <cp:lastModifiedBy>osama-ali</cp:lastModifiedBy>
  <cp:revision>58</cp:revision>
  <dcterms:created xsi:type="dcterms:W3CDTF">2022-02-01T19:30:52Z</dcterms:created>
  <dcterms:modified xsi:type="dcterms:W3CDTF">2025-11-12T05:42:42Z</dcterms:modified>
</cp:coreProperties>
</file>